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Noto Serif" panose="02020600060500020200" pitchFamily="18" charset="0"/>
      <p:regular r:id="rId12"/>
    </p:embeddedFont>
    <p:embeddedFont>
      <p:font typeface="Noto Serif 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32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8888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C2B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0323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103542" y="716495"/>
            <a:ext cx="6446789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Online Rental Contract Booking &amp; Payment System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1103542" y="1968949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Database Systems Engineering &amp; Distributed Backend Development (25CS1302E)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Team 32 | Y25 2026–2027 </a:t>
            </a:r>
            <a:endParaRPr lang="en-US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F44DAB-E119-D5B4-3701-E2AB7410DE1D}"/>
              </a:ext>
            </a:extLst>
          </p:cNvPr>
          <p:cNvSpPr/>
          <p:nvPr/>
        </p:nvSpPr>
        <p:spPr>
          <a:xfrm>
            <a:off x="7821038" y="4364477"/>
            <a:ext cx="1271081" cy="701202"/>
          </a:xfrm>
          <a:prstGeom prst="rect">
            <a:avLst/>
          </a:prstGeom>
          <a:solidFill>
            <a:srgbClr val="403234"/>
          </a:solidFill>
          <a:ln>
            <a:solidFill>
              <a:srgbClr val="4032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03473"/>
            <a:ext cx="4722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The Problem</a:t>
            </a:r>
            <a:endParaRPr lang="en-US" sz="2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992535"/>
            <a:ext cx="4722763" cy="116882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27227" y="1137493"/>
            <a:ext cx="43756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No Unified Platform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127227" y="1413867"/>
            <a:ext cx="4375696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rental market lacks a single digital destination for property discovery, browsing, and booking — leaving tenants and owners to navigate disconnected tools.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2281833"/>
            <a:ext cx="4722763" cy="116882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27227" y="2426791"/>
            <a:ext cx="43756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Manual Friction &amp; Delays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4127227" y="2703165"/>
            <a:ext cx="4375696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Contract generation and payment processing are largely manual, introducing costly delays and errors at every step of the rental lifecycle.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3571131"/>
            <a:ext cx="4722763" cy="116882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127227" y="3716089"/>
            <a:ext cx="437569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No Intelligent Matching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127227" y="3992463"/>
            <a:ext cx="4375696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There is no mechanism to intelligently connect tenant preferences with the right available properties — resulting in poor search experiences and missed opportunities.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0E0810C-025E-4692-8E49-E5A12B270F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3501479" cy="51435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14ED7E5-6FBB-21D2-0918-75586439A614}"/>
              </a:ext>
            </a:extLst>
          </p:cNvPr>
          <p:cNvSpPr/>
          <p:nvPr/>
        </p:nvSpPr>
        <p:spPr>
          <a:xfrm>
            <a:off x="7877110" y="4812209"/>
            <a:ext cx="1251626" cy="312096"/>
          </a:xfrm>
          <a:prstGeom prst="rect">
            <a:avLst/>
          </a:prstGeom>
          <a:solidFill>
            <a:srgbClr val="403234"/>
          </a:solidFill>
          <a:ln>
            <a:solidFill>
              <a:srgbClr val="4032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715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Our Solution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73659"/>
            <a:ext cx="1507480" cy="9316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88250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End-to-End Digital Platform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89015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web-based system that digitizes the complete rental lifecycle — from listing discovery to contract signing.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433" y="1773659"/>
            <a:ext cx="1507480" cy="9316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88250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AI-Powered Assistant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189015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Natural-language property recommendations powered by an intelligent rental assistant for effortless search.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773659"/>
            <a:ext cx="1507480" cy="93166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882503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Maps &amp; Secure Payments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189015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Google Maps visualization and navigation integrated alongside secure online payments and digital contract generation.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ED310D-70EE-B21E-6F3B-90C79D5BCE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019" y="4757577"/>
            <a:ext cx="1261981" cy="329213"/>
          </a:xfrm>
          <a:prstGeom prst="rect">
            <a:avLst/>
          </a:prstGeom>
        </p:spPr>
      </p:pic>
      <p:pic>
        <p:nvPicPr>
          <p:cNvPr id="14" name="Picture 13" descr="What Is End-to-End? The Full Process, From Start to Finish">
            <a:extLst>
              <a:ext uri="{FF2B5EF4-FFF2-40B4-BE49-F238E27FC236}">
                <a16:creationId xmlns:a16="http://schemas.microsoft.com/office/drawing/2014/main" id="{F65C9098-B2CC-3A16-D878-A2CC3DF1552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b="9619"/>
          <a:stretch>
            <a:fillRect/>
          </a:stretch>
        </p:blipFill>
        <p:spPr>
          <a:xfrm>
            <a:off x="496119" y="1773659"/>
            <a:ext cx="1507480" cy="931664"/>
          </a:xfrm>
          <a:prstGeom prst="rect">
            <a:avLst/>
          </a:prstGeom>
        </p:spPr>
      </p:pic>
      <p:pic>
        <p:nvPicPr>
          <p:cNvPr id="15" name="Picture 14" descr="Introducing the SurveyCTO AI Assistant - SurveyCTO">
            <a:extLst>
              <a:ext uri="{FF2B5EF4-FFF2-40B4-BE49-F238E27FC236}">
                <a16:creationId xmlns:a16="http://schemas.microsoft.com/office/drawing/2014/main" id="{B7CF8850-7BCF-9C4B-2E2C-C03679D5A1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2433" y="1773659"/>
            <a:ext cx="1507480" cy="93166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DA2664-9898-42CA-AB04-A8D240E4F1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8747" y="1773660"/>
            <a:ext cx="1507480" cy="931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7157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Key Features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98079"/>
            <a:ext cx="1104900" cy="6828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758083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Smart Search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064594"/>
            <a:ext cx="19050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Filter by location, budget, type, amenities, and availability for precision results.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298" y="1898079"/>
            <a:ext cx="1104900" cy="6828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758083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Rental Assistant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064594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Natural-language queries with semantic recommendations tailored to tenant needs.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1898079"/>
            <a:ext cx="1104900" cy="6828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758083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Price Comparison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064594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Compare rental rates and amenities across surrounding areas at a glance.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807" y="1898079"/>
            <a:ext cx="1104900" cy="6828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758083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Maps Integration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064594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Interactive property visualization and turn-by-turn directions via Google Maps.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E4D39B9-7604-3611-19D6-864EAC357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7707" y="4769555"/>
            <a:ext cx="1261981" cy="329213"/>
          </a:xfrm>
          <a:prstGeom prst="rect">
            <a:avLst/>
          </a:prstGeom>
        </p:spPr>
      </p:pic>
      <p:pic>
        <p:nvPicPr>
          <p:cNvPr id="19" name="Picture 18" descr="Smart Search Logo and Icon. Playful logo featuring a magnifying glass which  is also a smart 17438197 Vector Art at Vecteezy">
            <a:extLst>
              <a:ext uri="{FF2B5EF4-FFF2-40B4-BE49-F238E27FC236}">
                <a16:creationId xmlns:a16="http://schemas.microsoft.com/office/drawing/2014/main" id="{D114396F-2D35-1B82-CC0A-EF8F06BC52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1888926"/>
            <a:ext cx="1104900" cy="682824"/>
          </a:xfrm>
          <a:prstGeom prst="rect">
            <a:avLst/>
          </a:prstGeom>
        </p:spPr>
      </p:pic>
      <p:pic>
        <p:nvPicPr>
          <p:cNvPr id="20" name="Picture 19" descr="RentalHelp.ai - AI-Powered Rental Assistance">
            <a:extLst>
              <a:ext uri="{FF2B5EF4-FFF2-40B4-BE49-F238E27FC236}">
                <a16:creationId xmlns:a16="http://schemas.microsoft.com/office/drawing/2014/main" id="{ECC19CBC-787A-D413-5C2C-4F76B48600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8297" y="1898079"/>
            <a:ext cx="1104901" cy="67367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DC33F03-4F5F-0066-203B-8CA0BC3BC8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0477" y="1898079"/>
            <a:ext cx="1104901" cy="68282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B5A1C58-4B3F-AEB7-DC5C-B5BBBCB9FC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42657" y="1898078"/>
            <a:ext cx="1105050" cy="6736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199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User Roles &amp; Capabilities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828502"/>
            <a:ext cx="2622724" cy="2213000"/>
          </a:xfrm>
          <a:prstGeom prst="roundRect">
            <a:avLst>
              <a:gd name="adj" fmla="val 961"/>
            </a:avLst>
          </a:prstGeom>
          <a:solidFill>
            <a:srgbClr val="5F5153"/>
          </a:solidFill>
          <a:ln/>
        </p:spPr>
      </p:sp>
      <p:sp>
        <p:nvSpPr>
          <p:cNvPr id="4" name="Shape 2"/>
          <p:cNvSpPr/>
          <p:nvPr/>
        </p:nvSpPr>
        <p:spPr>
          <a:xfrm>
            <a:off x="637877" y="1970261"/>
            <a:ext cx="425276" cy="425276"/>
          </a:xfrm>
          <a:prstGeom prst="ellipse">
            <a:avLst/>
          </a:prstGeom>
          <a:solidFill>
            <a:srgbClr val="E2C2B3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856" y="2087166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877" y="2537296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Tenants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843808"/>
            <a:ext cx="2339206" cy="1055936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Search and browse listings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Book properties online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View and sign digital contracts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Make secure payments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0601" y="1828502"/>
            <a:ext cx="2622724" cy="2213000"/>
          </a:xfrm>
          <a:prstGeom prst="roundRect">
            <a:avLst>
              <a:gd name="adj" fmla="val 961"/>
            </a:avLst>
          </a:prstGeom>
          <a:solidFill>
            <a:srgbClr val="5F5153"/>
          </a:solidFill>
          <a:ln/>
        </p:spPr>
      </p:sp>
      <p:sp>
        <p:nvSpPr>
          <p:cNvPr id="9" name="Shape 6"/>
          <p:cNvSpPr/>
          <p:nvPr/>
        </p:nvSpPr>
        <p:spPr>
          <a:xfrm>
            <a:off x="3402360" y="1970261"/>
            <a:ext cx="425276" cy="425276"/>
          </a:xfrm>
          <a:prstGeom prst="ellipse">
            <a:avLst/>
          </a:prstGeom>
          <a:solidFill>
            <a:srgbClr val="E2C2B3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9339" y="2087166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2360" y="2537296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Property Owners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02360" y="2843808"/>
            <a:ext cx="2339206" cy="1055936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Manage property listings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Handle bookings and contracts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Track payments and revenue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Control availability calendars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25083" y="1828502"/>
            <a:ext cx="2622724" cy="2213000"/>
          </a:xfrm>
          <a:prstGeom prst="roundRect">
            <a:avLst>
              <a:gd name="adj" fmla="val 961"/>
            </a:avLst>
          </a:prstGeom>
          <a:solidFill>
            <a:srgbClr val="5F5153"/>
          </a:solidFill>
          <a:ln/>
        </p:spPr>
      </p:sp>
      <p:sp>
        <p:nvSpPr>
          <p:cNvPr id="14" name="Shape 10"/>
          <p:cNvSpPr/>
          <p:nvPr/>
        </p:nvSpPr>
        <p:spPr>
          <a:xfrm>
            <a:off x="6166842" y="1970261"/>
            <a:ext cx="425276" cy="425276"/>
          </a:xfrm>
          <a:prstGeom prst="ellipse">
            <a:avLst/>
          </a:prstGeom>
          <a:solidFill>
            <a:srgbClr val="E2C2B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3821" y="2087166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66842" y="2537296"/>
            <a:ext cx="23392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Administrators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66842" y="2843808"/>
            <a:ext cx="2339206" cy="1055936"/>
          </a:xfrm>
          <a:prstGeom prst="rect">
            <a:avLst/>
          </a:prstGeom>
          <a:noFill/>
          <a:ln/>
        </p:spPr>
        <p:txBody>
          <a:bodyPr wrap="square" lIns="0" tIns="56707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Monitor users and properties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Oversee all transactions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Audit system activities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Ensure platform integrity</a:t>
            </a: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E51876-E040-FCFE-3D26-603D70A8AB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4748" y="4750296"/>
            <a:ext cx="1261981" cy="3292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458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Technology Stack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68673"/>
            <a:ext cx="26387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Frontend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96119" y="1508522"/>
            <a:ext cx="26387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React.js, HTML5, CSS3, Bootstrap / Tailwind CSS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96119" y="2059484"/>
            <a:ext cx="26387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Backend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6119" y="2399333"/>
            <a:ext cx="26387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FastAPI (Python), Node.js / Express, Spring Boot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6119" y="2950294"/>
            <a:ext cx="26387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Databases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6119" y="3290143"/>
            <a:ext cx="26387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PostgreSQL, MongoDB, pgvector for semantic search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96119" y="3841105"/>
            <a:ext cx="263879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/ ML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6119" y="4180954"/>
            <a:ext cx="26387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OpenAI API powering the intelligent rental assistant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69332" y="2773933"/>
            <a:ext cx="5640437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10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B94F8E-C6AF-9320-60BF-75C45772A98C}"/>
              </a:ext>
            </a:extLst>
          </p:cNvPr>
          <p:cNvSpPr/>
          <p:nvPr/>
        </p:nvSpPr>
        <p:spPr>
          <a:xfrm>
            <a:off x="7877110" y="4812209"/>
            <a:ext cx="1251626" cy="312096"/>
          </a:xfrm>
          <a:prstGeom prst="rect">
            <a:avLst/>
          </a:prstGeom>
          <a:solidFill>
            <a:srgbClr val="403234"/>
          </a:solidFill>
          <a:ln>
            <a:solidFill>
              <a:srgbClr val="4032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092E90F-709C-1B4C-C4B6-932F42545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485" y="365078"/>
            <a:ext cx="4916533" cy="46031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586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Infrastructure &amp; Security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572369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Authentication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JWT, OAuth 2.0, and Role-Based Access Control ensuring only authorized access at every layer.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572369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2033067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Payments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339578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Razorpay and Stripe integration for reliable, encrypted, and compliant online transactions.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537421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843933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Docker and Docker Compose containerization, deployed on AWS, Azure, or Google Cloud infrastructure.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537421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DevOps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3843933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GitHub Actions CI/CD pipelines with Prometheus monitoring for continuous delivery and observability.</a:t>
            </a:r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F0C61D-D255-14A5-4B47-AD8B89143108}"/>
              </a:ext>
            </a:extLst>
          </p:cNvPr>
          <p:cNvSpPr/>
          <p:nvPr/>
        </p:nvSpPr>
        <p:spPr>
          <a:xfrm>
            <a:off x="7877110" y="4812209"/>
            <a:ext cx="1251626" cy="312096"/>
          </a:xfrm>
          <a:prstGeom prst="rect">
            <a:avLst/>
          </a:prstGeom>
          <a:solidFill>
            <a:srgbClr val="403234"/>
          </a:solidFill>
          <a:ln>
            <a:solidFill>
              <a:srgbClr val="4032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5151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Architecture Highlights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4350"/>
            <a:ext cx="5190753" cy="25378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9052" y="1784865"/>
            <a:ext cx="1120061" cy="144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Microservices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19052" y="1970073"/>
            <a:ext cx="1120061" cy="218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REST-based inter-service communication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439531" y="1784865"/>
            <a:ext cx="1120061" cy="144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Vector Database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439531" y="1970073"/>
            <a:ext cx="1120061" cy="218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pgvector / Pinecone for semantic search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19052" y="3119934"/>
            <a:ext cx="1120061" cy="288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Containerized Deployment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19052" y="3449335"/>
            <a:ext cx="1120061" cy="218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Docker for scalability and reliability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434324" y="3119934"/>
            <a:ext cx="1120061" cy="288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API Documentation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434324" y="3449335"/>
            <a:ext cx="1120061" cy="218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Swagger / OpenAPI comprehensive docs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999708" y="1170756"/>
            <a:ext cx="26528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Built for Scale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99708" y="1480468"/>
            <a:ext cx="2652861" cy="3066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spcAft>
                <a:spcPts val="750"/>
              </a:spcAft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system is architected using a </a:t>
            </a: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microservices design pattern</a:t>
            </a: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with REST-based communication between independent services — enabling teams to develop, deploy, and scale each component independently.</a:t>
            </a:r>
            <a:endParaRPr lang="en-US" sz="950" dirty="0"/>
          </a:p>
          <a:p>
            <a:pPr marL="0" indent="0" algn="l">
              <a:lnSpc>
                <a:spcPct val="126000"/>
              </a:lnSpc>
              <a:spcAft>
                <a:spcPts val="750"/>
              </a:spcAft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</a:t>
            </a:r>
            <a:r>
              <a:rPr lang="en-US" sz="9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vector database</a:t>
            </a: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(pgvector / Pinecone) powers semantic search, allowing the AI assistant to return contextually relevant property results beyond simple keyword matching.</a:t>
            </a:r>
            <a:endParaRPr lang="en-US" sz="95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Containerized deployment and comprehensive Swagger/OpenAPI documentation ensure long-term reliability and developer-friendly extensibility.</a:t>
            </a:r>
            <a:endParaRPr lang="en-US" sz="9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7C6B17-2484-9AB7-C3EE-9077F1EB09CC}"/>
              </a:ext>
            </a:extLst>
          </p:cNvPr>
          <p:cNvSpPr/>
          <p:nvPr/>
        </p:nvSpPr>
        <p:spPr>
          <a:xfrm>
            <a:off x="7877110" y="4812209"/>
            <a:ext cx="1251626" cy="312096"/>
          </a:xfrm>
          <a:prstGeom prst="rect">
            <a:avLst/>
          </a:prstGeom>
          <a:solidFill>
            <a:srgbClr val="403234"/>
          </a:solidFill>
          <a:ln>
            <a:solidFill>
              <a:srgbClr val="4032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01158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8F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Meet the Team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667173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Team 32 — Database Systems Engineering &amp; Distributed Backend Development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2280270"/>
            <a:ext cx="4722763" cy="854943"/>
          </a:xfrm>
          <a:prstGeom prst="roundRect">
            <a:avLst>
              <a:gd name="adj" fmla="val 2487"/>
            </a:avLst>
          </a:prstGeom>
          <a:solidFill>
            <a:srgbClr val="403234"/>
          </a:solidFill>
          <a:ln w="19050">
            <a:solidFill>
              <a:srgbClr val="786A6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6927" y="2441079"/>
            <a:ext cx="44011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S. Harshith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56927" y="2747590"/>
            <a:ext cx="44011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Roll No: </a:t>
            </a:r>
            <a:r>
              <a:rPr lang="en-US" sz="11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2520030572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119" y="3276972"/>
            <a:ext cx="4722763" cy="854943"/>
          </a:xfrm>
          <a:prstGeom prst="roundRect">
            <a:avLst>
              <a:gd name="adj" fmla="val 2487"/>
            </a:avLst>
          </a:prstGeom>
          <a:solidFill>
            <a:srgbClr val="403234"/>
          </a:solidFill>
          <a:ln w="19050">
            <a:solidFill>
              <a:srgbClr val="786A6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6927" y="3437781"/>
            <a:ext cx="44011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Chandra Prakash Verma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6927" y="3744292"/>
            <a:ext cx="44011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3C9C5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Roll No: </a:t>
            </a:r>
            <a:r>
              <a:rPr lang="en-US" sz="1100" b="1" dirty="0">
                <a:solidFill>
                  <a:srgbClr val="D3C9C5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2500031353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C3B3375-4982-82CA-8CBE-76DCA640F2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1" y="0"/>
            <a:ext cx="3429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526</Words>
  <Application>Microsoft Office PowerPoint</Application>
  <PresentationFormat>On-screen Show (16:9)</PresentationFormat>
  <Paragraphs>88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Noto Serif</vt:lpstr>
      <vt:lpstr>Noto Serif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harshith</dc:creator>
  <cp:lastModifiedBy>Harshith Sirpuri</cp:lastModifiedBy>
  <cp:revision>2</cp:revision>
  <dcterms:created xsi:type="dcterms:W3CDTF">2026-08-14T05:34:31Z</dcterms:created>
  <dcterms:modified xsi:type="dcterms:W3CDTF">2026-08-14T06:07:24Z</dcterms:modified>
</cp:coreProperties>
</file>